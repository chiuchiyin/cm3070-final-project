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326" r:id="rId5"/>
    <p:sldId id="321" r:id="rId6"/>
    <p:sldId id="328" r:id="rId7"/>
    <p:sldId id="329" r:id="rId8"/>
    <p:sldId id="330" r:id="rId9"/>
    <p:sldId id="332" r:id="rId10"/>
    <p:sldId id="331" r:id="rId11"/>
    <p:sldId id="327" r:id="rId12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388" autoAdjust="0"/>
  </p:normalViewPr>
  <p:slideViewPr>
    <p:cSldViewPr snapToGrid="0">
      <p:cViewPr varScale="1">
        <p:scale>
          <a:sx n="152" d="100"/>
          <a:sy n="152" d="100"/>
        </p:scale>
        <p:origin x="588" y="13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lve\Downloads\Project_Gantt_Cha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Work Plan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 Week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Ideation and Planning</c:v>
                </c:pt>
                <c:pt idx="1">
                  <c:v>Literature Review &amp; Tools</c:v>
                </c:pt>
                <c:pt idx="2">
                  <c:v>Data Ingestion &amp; Preprocessing</c:v>
                </c:pt>
                <c:pt idx="3">
                  <c:v>Reservoir Computing (RC) Model</c:v>
                </c:pt>
                <c:pt idx="4">
                  <c:v>LLM Interface (Smolagents + Qwen3)</c:v>
                </c:pt>
                <c:pt idx="5">
                  <c:v>FinRL with A2C (Placeholder)</c:v>
                </c:pt>
                <c:pt idx="6">
                  <c:v>Component Testing</c:v>
                </c:pt>
                <c:pt idx="7">
                  <c:v>Pipeline Integration</c:v>
                </c:pt>
                <c:pt idx="8">
                  <c:v>Replace Placeholder Models (PPO, NG-RC)</c:v>
                </c:pt>
                <c:pt idx="9">
                  <c:v>Stigmergic RL Exploration</c:v>
                </c:pt>
                <c:pt idx="10">
                  <c:v>Walk-Forward Validation</c:v>
                </c:pt>
                <c:pt idx="11">
                  <c:v>Final Report &amp; Demo Prep</c:v>
                </c:pt>
                <c:pt idx="12">
                  <c:v>LLM Fine-Tuning and submission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13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75-4434-A523-13DD8380AE6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Ideation and Planning</c:v>
                </c:pt>
                <c:pt idx="1">
                  <c:v>Literature Review &amp; Tools</c:v>
                </c:pt>
                <c:pt idx="2">
                  <c:v>Data Ingestion &amp; Preprocessing</c:v>
                </c:pt>
                <c:pt idx="3">
                  <c:v>Reservoir Computing (RC) Model</c:v>
                </c:pt>
                <c:pt idx="4">
                  <c:v>LLM Interface (Smolagents + Qwen3)</c:v>
                </c:pt>
                <c:pt idx="5">
                  <c:v>FinRL with A2C (Placeholder)</c:v>
                </c:pt>
                <c:pt idx="6">
                  <c:v>Component Testing</c:v>
                </c:pt>
                <c:pt idx="7">
                  <c:v>Pipeline Integration</c:v>
                </c:pt>
                <c:pt idx="8">
                  <c:v>Replace Placeholder Models (PPO, NG-RC)</c:v>
                </c:pt>
                <c:pt idx="9">
                  <c:v>Stigmergic RL Exploration</c:v>
                </c:pt>
                <c:pt idx="10">
                  <c:v>Walk-Forward Validation</c:v>
                </c:pt>
                <c:pt idx="11">
                  <c:v>Final Report &amp; Demo Prep</c:v>
                </c:pt>
                <c:pt idx="12">
                  <c:v>LLM Fine-Tuning and submission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3</c:v>
                </c:pt>
                <c:pt idx="1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75-4434-A523-13DD8380AE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6254847"/>
        <c:axId val="126254367"/>
      </c:barChart>
      <c:catAx>
        <c:axId val="12625484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6254367"/>
        <c:crosses val="autoZero"/>
        <c:auto val="1"/>
        <c:lblAlgn val="ctr"/>
        <c:lblOffset val="100"/>
        <c:noMultiLvlLbl val="0"/>
      </c:catAx>
      <c:valAx>
        <c:axId val="126254367"/>
        <c:scaling>
          <c:orientation val="minMax"/>
          <c:max val="22"/>
          <c:min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6254847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78586B-F2CE-41AB-A3DF-20D8B233D87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99CD61BA-DB39-4E7E-8976-C1371F8BBA0E}">
      <dgm:prSet phldrT="[Text]"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Perception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08F6D7CD-9C23-4A55-9CFE-1901E79C5D30}" type="parTrans" cxnId="{4D45A590-A9A2-465F-9469-068469F1A79F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7DA824CD-8E57-4C40-9313-682AFB4A9ECC}" type="sibTrans" cxnId="{4D45A590-A9A2-465F-9469-068469F1A79F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4105D8C4-0866-4999-84DF-490EE8613C3C}">
      <dgm:prSet phldrT="[Text]"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Action Selection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D6C8F26C-C798-46C5-80F9-06484C02DE70}" type="parTrans" cxnId="{55754945-5B2A-48C4-86B2-4B2DEE53A2E6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F3F66C7F-D550-462E-BB1B-D0651BBACF8F}" type="sibTrans" cxnId="{55754945-5B2A-48C4-86B2-4B2DEE53A2E6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D457BFA1-DF7B-4C59-8500-91A574875C47}">
      <dgm:prSet phldrT="[Text]"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Natural Language Reporting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EE48F79C-EBA0-4EDB-AD1E-FD6F4FE35953}" type="parTrans" cxnId="{A45AF62D-46BB-4BFE-B6F8-AE6C4AE26B81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781E238B-8AE0-4979-AEAD-3516D90CAF0F}" type="sibTrans" cxnId="{A45AF62D-46BB-4BFE-B6F8-AE6C4AE26B81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D5C827B7-DC2F-44B1-95BD-2F08E8659544}">
      <dgm:prSet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Self-Evaluation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BE84D910-7891-4F5C-B896-D9D71A5B4EB7}" type="parTrans" cxnId="{9E538AFF-E46E-4C5C-9A04-E9D06A35776B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79220FF9-C600-45C4-B7DD-F172DFABC528}" type="sibTrans" cxnId="{9E538AFF-E46E-4C5C-9A04-E9D06A35776B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E9264D90-C6A3-400D-999F-3D4C9B477669}">
      <dgm:prSet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Reasoning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F86F7816-5DF2-454F-BF4A-A3D18903E2C2}" type="parTrans" cxnId="{DD9D6823-00DA-4A12-96DF-742592E60196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6C95D786-7A32-4868-B0D6-FF1F289C8B92}" type="sibTrans" cxnId="{DD9D6823-00DA-4A12-96DF-742592E60196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B35F9FCD-BDF9-43D8-88DD-6B56D6A45CD0}">
      <dgm:prSet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Pull and preprocess live financial data.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D4954D9D-E92C-4AF3-B405-7BE637124AE9}" type="parTrans" cxnId="{E63CBFD7-DA47-497A-AEAB-1D95951989EE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30281D1F-6D7B-4C6C-9E1D-0B0A711FBE5D}" type="sibTrans" cxnId="{E63CBFD7-DA47-497A-AEAB-1D95951989EE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86B32372-195B-4A28-97D5-3F302F0DE014}">
      <dgm:prSet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Apply models to predict outcomes.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2FCA2D28-F7AA-404A-BACC-D78D47209B01}" type="parTrans" cxnId="{01DD28C1-FB43-4A72-A52A-D744B6B8F446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37890C7F-1F39-4808-BB9A-BF052AFA31FA}" type="sibTrans" cxnId="{01DD28C1-FB43-4A72-A52A-D744B6B8F446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BDB6F3ED-E504-4D99-856E-B15C48FCDA3F}">
      <dgm:prSet phldrT="[Text]"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Choose advisory outputs based on predictions.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28159AB3-9775-40DD-815D-F3772830F26A}" type="parTrans" cxnId="{B5593375-14AC-4745-83A3-4898AFC99502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047DD525-E296-4DA2-B487-E8E3EB6CD5B0}" type="sibTrans" cxnId="{B5593375-14AC-4745-83A3-4898AFC99502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68AFD4B7-85D0-48E1-AE06-C2CDAF3D1D79}">
      <dgm:prSet phldrT="[Text]"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Pass planning output to LLM to produce clear advice.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A9F42242-F800-4F80-8EEE-B0E58330F5E4}" type="parTrans" cxnId="{7FB02948-D059-4B01-8656-294FD91E9AB4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EA64E950-F121-499E-92D8-971BD168AF7F}" type="sibTrans" cxnId="{7FB02948-D059-4B01-8656-294FD91E9AB4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E632ACD5-2324-41AB-A2E3-0C2B98B042FC}">
      <dgm:prSet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Log past predictions and compare to real outcomes over time.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0BC710A4-0BF8-4571-82DF-B4133A9468ED}" type="parTrans" cxnId="{4E202D88-D678-4BDF-8B62-D77DD4FFD09D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F6819716-F2FD-42CF-8B99-526605224DEB}" type="sibTrans" cxnId="{4E202D88-D678-4BDF-8B62-D77DD4FFD09D}">
      <dgm:prSet/>
      <dgm:spPr/>
      <dgm:t>
        <a:bodyPr/>
        <a:lstStyle/>
        <a:p>
          <a:endParaRPr lang="de-DE">
            <a:solidFill>
              <a:schemeClr val="tx2">
                <a:lumMod val="50000"/>
              </a:schemeClr>
            </a:solidFill>
          </a:endParaRPr>
        </a:p>
      </dgm:t>
    </dgm:pt>
    <dgm:pt modelId="{6505FE75-3AF5-4CDC-BD5E-061987EACE5A}">
      <dgm:prSet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Yahoo Finance  API, Bloomberg API, CCXT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5AD09C2A-2601-438A-8D06-717AF98EE0FD}" type="parTrans" cxnId="{14A6E275-7CDC-4FB0-BBF3-CFEC43338128}">
      <dgm:prSet/>
      <dgm:spPr/>
      <dgm:t>
        <a:bodyPr/>
        <a:lstStyle/>
        <a:p>
          <a:endParaRPr lang="de-DE"/>
        </a:p>
      </dgm:t>
    </dgm:pt>
    <dgm:pt modelId="{21D76902-C0A7-435D-A6F9-28D7DC9BFEF6}" type="sibTrans" cxnId="{14A6E275-7CDC-4FB0-BBF3-CFEC43338128}">
      <dgm:prSet/>
      <dgm:spPr/>
      <dgm:t>
        <a:bodyPr/>
        <a:lstStyle/>
        <a:p>
          <a:endParaRPr lang="de-DE"/>
        </a:p>
      </dgm:t>
    </dgm:pt>
    <dgm:pt modelId="{BC8D6234-5CCD-46CF-A105-852393223EA3}">
      <dgm:prSet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ARIMA, Reservoir Computing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3AA649C8-2BD5-4422-8B2E-9CBDABAF66B5}" type="parTrans" cxnId="{66C55D5E-52DF-45D3-8220-CA2197512B94}">
      <dgm:prSet/>
      <dgm:spPr/>
      <dgm:t>
        <a:bodyPr/>
        <a:lstStyle/>
        <a:p>
          <a:endParaRPr lang="de-DE"/>
        </a:p>
      </dgm:t>
    </dgm:pt>
    <dgm:pt modelId="{11FEBBD4-57B5-4CAD-8A2B-C3BC3C269E47}" type="sibTrans" cxnId="{66C55D5E-52DF-45D3-8220-CA2197512B94}">
      <dgm:prSet/>
      <dgm:spPr/>
      <dgm:t>
        <a:bodyPr/>
        <a:lstStyle/>
        <a:p>
          <a:endParaRPr lang="de-DE"/>
        </a:p>
      </dgm:t>
    </dgm:pt>
    <dgm:pt modelId="{95C3FB72-A411-499A-9D7E-B44FA9C58D7C}">
      <dgm:prSet phldrT="[Text]"/>
      <dgm:spPr/>
      <dgm:t>
        <a:bodyPr/>
        <a:lstStyle/>
        <a:p>
          <a:r>
            <a:rPr lang="en-SG" dirty="0" err="1">
              <a:solidFill>
                <a:schemeClr val="tx2">
                  <a:lumMod val="50000"/>
                </a:schemeClr>
              </a:solidFill>
            </a:rPr>
            <a:t>FinRL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894C6E56-2AEB-46E1-8002-520FD5671E90}" type="parTrans" cxnId="{13D70D99-F2F8-4372-BB94-B81A0F66BFBC}">
      <dgm:prSet/>
      <dgm:spPr/>
      <dgm:t>
        <a:bodyPr/>
        <a:lstStyle/>
        <a:p>
          <a:endParaRPr lang="de-DE"/>
        </a:p>
      </dgm:t>
    </dgm:pt>
    <dgm:pt modelId="{0CFE4D2B-BEEE-4C4C-8F8B-ED6F17A5A083}" type="sibTrans" cxnId="{13D70D99-F2F8-4372-BB94-B81A0F66BFBC}">
      <dgm:prSet/>
      <dgm:spPr/>
      <dgm:t>
        <a:bodyPr/>
        <a:lstStyle/>
        <a:p>
          <a:endParaRPr lang="de-DE"/>
        </a:p>
      </dgm:t>
    </dgm:pt>
    <dgm:pt modelId="{F655F7B4-652C-4626-8703-0024EF7A480B}">
      <dgm:prSet phldrT="[Text]"/>
      <dgm:spPr/>
      <dgm:t>
        <a:bodyPr/>
        <a:lstStyle/>
        <a:p>
          <a:r>
            <a:rPr lang="en-SG" dirty="0">
              <a:solidFill>
                <a:schemeClr val="tx2">
                  <a:lumMod val="50000"/>
                </a:schemeClr>
              </a:solidFill>
            </a:rPr>
            <a:t>Qwen3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9AB3B960-0A7C-43C4-AA69-B85BFDBADF48}" type="parTrans" cxnId="{F4B9A759-81B9-4E0E-874E-DF7800B7F740}">
      <dgm:prSet/>
      <dgm:spPr/>
      <dgm:t>
        <a:bodyPr/>
        <a:lstStyle/>
        <a:p>
          <a:endParaRPr lang="de-DE"/>
        </a:p>
      </dgm:t>
    </dgm:pt>
    <dgm:pt modelId="{48EFB724-F6D8-475F-82B2-843262EB61EF}" type="sibTrans" cxnId="{F4B9A759-81B9-4E0E-874E-DF7800B7F740}">
      <dgm:prSet/>
      <dgm:spPr/>
      <dgm:t>
        <a:bodyPr/>
        <a:lstStyle/>
        <a:p>
          <a:endParaRPr lang="de-DE"/>
        </a:p>
      </dgm:t>
    </dgm:pt>
    <dgm:pt modelId="{3AA168B2-5796-48D9-BD64-E274449ABF51}">
      <dgm:prSet/>
      <dgm:spPr/>
      <dgm:t>
        <a:bodyPr/>
        <a:lstStyle/>
        <a:p>
          <a:r>
            <a:rPr lang="en-SG" dirty="0" err="1">
              <a:solidFill>
                <a:schemeClr val="tx2">
                  <a:lumMod val="50000"/>
                </a:schemeClr>
              </a:solidFill>
            </a:rPr>
            <a:t>Backtesting</a:t>
          </a:r>
          <a:endParaRPr lang="de-DE" dirty="0">
            <a:solidFill>
              <a:schemeClr val="tx2">
                <a:lumMod val="50000"/>
              </a:schemeClr>
            </a:solidFill>
          </a:endParaRPr>
        </a:p>
      </dgm:t>
    </dgm:pt>
    <dgm:pt modelId="{A9FBCEB7-C459-453E-8131-E14F341BB920}" type="parTrans" cxnId="{6380F5F8-00AD-44DE-8ACA-558682887879}">
      <dgm:prSet/>
      <dgm:spPr/>
      <dgm:t>
        <a:bodyPr/>
        <a:lstStyle/>
        <a:p>
          <a:endParaRPr lang="de-DE"/>
        </a:p>
      </dgm:t>
    </dgm:pt>
    <dgm:pt modelId="{41538E08-2B5B-4D20-B120-E43FE40C427E}" type="sibTrans" cxnId="{6380F5F8-00AD-44DE-8ACA-558682887879}">
      <dgm:prSet/>
      <dgm:spPr/>
      <dgm:t>
        <a:bodyPr/>
        <a:lstStyle/>
        <a:p>
          <a:endParaRPr lang="de-DE"/>
        </a:p>
      </dgm:t>
    </dgm:pt>
    <dgm:pt modelId="{0DEDD44B-7298-4AA8-9EF8-62BF2C1B20A9}" type="pres">
      <dgm:prSet presAssocID="{8178586B-F2CE-41AB-A3DF-20D8B233D87D}" presName="CompostProcess" presStyleCnt="0">
        <dgm:presLayoutVars>
          <dgm:dir/>
          <dgm:resizeHandles val="exact"/>
        </dgm:presLayoutVars>
      </dgm:prSet>
      <dgm:spPr/>
    </dgm:pt>
    <dgm:pt modelId="{34BFB079-AA3F-4C30-9E83-559C468F7239}" type="pres">
      <dgm:prSet presAssocID="{8178586B-F2CE-41AB-A3DF-20D8B233D87D}" presName="arrow" presStyleLbl="bgShp" presStyleIdx="0" presStyleCnt="1"/>
      <dgm:spPr/>
    </dgm:pt>
    <dgm:pt modelId="{ED06D1C8-8994-4444-A153-93C047E7EE96}" type="pres">
      <dgm:prSet presAssocID="{8178586B-F2CE-41AB-A3DF-20D8B233D87D}" presName="linearProcess" presStyleCnt="0"/>
      <dgm:spPr/>
    </dgm:pt>
    <dgm:pt modelId="{591C7538-94D5-454D-BD46-77299AD15D51}" type="pres">
      <dgm:prSet presAssocID="{99CD61BA-DB39-4E7E-8976-C1371F8BBA0E}" presName="textNode" presStyleLbl="node1" presStyleIdx="0" presStyleCnt="5">
        <dgm:presLayoutVars>
          <dgm:bulletEnabled val="1"/>
        </dgm:presLayoutVars>
      </dgm:prSet>
      <dgm:spPr/>
    </dgm:pt>
    <dgm:pt modelId="{85CF71FC-BB96-4E6D-BBA7-3582ED4997B9}" type="pres">
      <dgm:prSet presAssocID="{7DA824CD-8E57-4C40-9313-682AFB4A9ECC}" presName="sibTrans" presStyleCnt="0"/>
      <dgm:spPr/>
    </dgm:pt>
    <dgm:pt modelId="{EA5B87C3-78BF-4BAE-A401-D06A6C3E0A20}" type="pres">
      <dgm:prSet presAssocID="{E9264D90-C6A3-400D-999F-3D4C9B477669}" presName="textNode" presStyleLbl="node1" presStyleIdx="1" presStyleCnt="5">
        <dgm:presLayoutVars>
          <dgm:bulletEnabled val="1"/>
        </dgm:presLayoutVars>
      </dgm:prSet>
      <dgm:spPr/>
    </dgm:pt>
    <dgm:pt modelId="{7E467411-619E-4E71-9FCB-6B8E33952269}" type="pres">
      <dgm:prSet presAssocID="{6C95D786-7A32-4868-B0D6-FF1F289C8B92}" presName="sibTrans" presStyleCnt="0"/>
      <dgm:spPr/>
    </dgm:pt>
    <dgm:pt modelId="{F1971286-1BAB-4490-9D1A-02883B2B1513}" type="pres">
      <dgm:prSet presAssocID="{4105D8C4-0866-4999-84DF-490EE8613C3C}" presName="textNode" presStyleLbl="node1" presStyleIdx="2" presStyleCnt="5">
        <dgm:presLayoutVars>
          <dgm:bulletEnabled val="1"/>
        </dgm:presLayoutVars>
      </dgm:prSet>
      <dgm:spPr/>
    </dgm:pt>
    <dgm:pt modelId="{AD0F633F-792C-4808-BCCD-8A9E7E426F18}" type="pres">
      <dgm:prSet presAssocID="{F3F66C7F-D550-462E-BB1B-D0651BBACF8F}" presName="sibTrans" presStyleCnt="0"/>
      <dgm:spPr/>
    </dgm:pt>
    <dgm:pt modelId="{86AC2059-9328-4CA9-9B68-5B91113C7B29}" type="pres">
      <dgm:prSet presAssocID="{D457BFA1-DF7B-4C59-8500-91A574875C47}" presName="textNode" presStyleLbl="node1" presStyleIdx="3" presStyleCnt="5">
        <dgm:presLayoutVars>
          <dgm:bulletEnabled val="1"/>
        </dgm:presLayoutVars>
      </dgm:prSet>
      <dgm:spPr/>
    </dgm:pt>
    <dgm:pt modelId="{827B38C6-2F9E-45E6-8BFF-AA690B5599A8}" type="pres">
      <dgm:prSet presAssocID="{781E238B-8AE0-4979-AEAD-3516D90CAF0F}" presName="sibTrans" presStyleCnt="0"/>
      <dgm:spPr/>
    </dgm:pt>
    <dgm:pt modelId="{8EB05C76-4989-44FA-B141-FD3948A62A69}" type="pres">
      <dgm:prSet presAssocID="{D5C827B7-DC2F-44B1-95BD-2F08E8659544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A5100E02-DA05-425C-AA0A-978644B9B297}" type="presOf" srcId="{99CD61BA-DB39-4E7E-8976-C1371F8BBA0E}" destId="{591C7538-94D5-454D-BD46-77299AD15D51}" srcOrd="0" destOrd="0" presId="urn:microsoft.com/office/officeart/2005/8/layout/hProcess9"/>
    <dgm:cxn modelId="{3B136111-B4F4-40DA-A5DA-72C61E7DB361}" type="presOf" srcId="{6505FE75-3AF5-4CDC-BD5E-061987EACE5A}" destId="{591C7538-94D5-454D-BD46-77299AD15D51}" srcOrd="0" destOrd="2" presId="urn:microsoft.com/office/officeart/2005/8/layout/hProcess9"/>
    <dgm:cxn modelId="{DD9D6823-00DA-4A12-96DF-742592E60196}" srcId="{8178586B-F2CE-41AB-A3DF-20D8B233D87D}" destId="{E9264D90-C6A3-400D-999F-3D4C9B477669}" srcOrd="1" destOrd="0" parTransId="{F86F7816-5DF2-454F-BF4A-A3D18903E2C2}" sibTransId="{6C95D786-7A32-4868-B0D6-FF1F289C8B92}"/>
    <dgm:cxn modelId="{F4C7E126-E9F3-4BCC-A2A2-CFF064C3A307}" type="presOf" srcId="{D5C827B7-DC2F-44B1-95BD-2F08E8659544}" destId="{8EB05C76-4989-44FA-B141-FD3948A62A69}" srcOrd="0" destOrd="0" presId="urn:microsoft.com/office/officeart/2005/8/layout/hProcess9"/>
    <dgm:cxn modelId="{A45AF62D-46BB-4BFE-B6F8-AE6C4AE26B81}" srcId="{8178586B-F2CE-41AB-A3DF-20D8B233D87D}" destId="{D457BFA1-DF7B-4C59-8500-91A574875C47}" srcOrd="3" destOrd="0" parTransId="{EE48F79C-EBA0-4EDB-AD1E-FD6F4FE35953}" sibTransId="{781E238B-8AE0-4979-AEAD-3516D90CAF0F}"/>
    <dgm:cxn modelId="{66C55D5E-52DF-45D3-8220-CA2197512B94}" srcId="{E9264D90-C6A3-400D-999F-3D4C9B477669}" destId="{BC8D6234-5CCD-46CF-A105-852393223EA3}" srcOrd="1" destOrd="0" parTransId="{3AA649C8-2BD5-4422-8B2E-9CBDABAF66B5}" sibTransId="{11FEBBD4-57B5-4CAD-8A2B-C3BC3C269E47}"/>
    <dgm:cxn modelId="{2AEF925F-8D32-4270-A872-DA9A93D3AEAC}" type="presOf" srcId="{E632ACD5-2324-41AB-A2E3-0C2B98B042FC}" destId="{8EB05C76-4989-44FA-B141-FD3948A62A69}" srcOrd="0" destOrd="1" presId="urn:microsoft.com/office/officeart/2005/8/layout/hProcess9"/>
    <dgm:cxn modelId="{55754945-5B2A-48C4-86B2-4B2DEE53A2E6}" srcId="{8178586B-F2CE-41AB-A3DF-20D8B233D87D}" destId="{4105D8C4-0866-4999-84DF-490EE8613C3C}" srcOrd="2" destOrd="0" parTransId="{D6C8F26C-C798-46C5-80F9-06484C02DE70}" sibTransId="{F3F66C7F-D550-462E-BB1B-D0651BBACF8F}"/>
    <dgm:cxn modelId="{7FB02948-D059-4B01-8656-294FD91E9AB4}" srcId="{D457BFA1-DF7B-4C59-8500-91A574875C47}" destId="{68AFD4B7-85D0-48E1-AE06-C2CDAF3D1D79}" srcOrd="0" destOrd="0" parTransId="{A9F42242-F800-4F80-8EEE-B0E58330F5E4}" sibTransId="{EA64E950-F121-499E-92D8-971BD168AF7F}"/>
    <dgm:cxn modelId="{70C01A6B-7A44-43F5-8575-4A9F6BE8BD3B}" type="presOf" srcId="{D457BFA1-DF7B-4C59-8500-91A574875C47}" destId="{86AC2059-9328-4CA9-9B68-5B91113C7B29}" srcOrd="0" destOrd="0" presId="urn:microsoft.com/office/officeart/2005/8/layout/hProcess9"/>
    <dgm:cxn modelId="{4A007B53-23BE-4E02-A717-FB5D201981E6}" type="presOf" srcId="{E9264D90-C6A3-400D-999F-3D4C9B477669}" destId="{EA5B87C3-78BF-4BAE-A401-D06A6C3E0A20}" srcOrd="0" destOrd="0" presId="urn:microsoft.com/office/officeart/2005/8/layout/hProcess9"/>
    <dgm:cxn modelId="{B5593375-14AC-4745-83A3-4898AFC99502}" srcId="{4105D8C4-0866-4999-84DF-490EE8613C3C}" destId="{BDB6F3ED-E504-4D99-856E-B15C48FCDA3F}" srcOrd="0" destOrd="0" parTransId="{28159AB3-9775-40DD-815D-F3772830F26A}" sibTransId="{047DD525-E296-4DA2-B487-E8E3EB6CD5B0}"/>
    <dgm:cxn modelId="{14A6E275-7CDC-4FB0-BBF3-CFEC43338128}" srcId="{99CD61BA-DB39-4E7E-8976-C1371F8BBA0E}" destId="{6505FE75-3AF5-4CDC-BD5E-061987EACE5A}" srcOrd="1" destOrd="0" parTransId="{5AD09C2A-2601-438A-8D06-717AF98EE0FD}" sibTransId="{21D76902-C0A7-435D-A6F9-28D7DC9BFEF6}"/>
    <dgm:cxn modelId="{64817977-CC14-4999-B87E-77BD97F8F514}" type="presOf" srcId="{F655F7B4-652C-4626-8703-0024EF7A480B}" destId="{86AC2059-9328-4CA9-9B68-5B91113C7B29}" srcOrd="0" destOrd="2" presId="urn:microsoft.com/office/officeart/2005/8/layout/hProcess9"/>
    <dgm:cxn modelId="{F4B9A759-81B9-4E0E-874E-DF7800B7F740}" srcId="{D457BFA1-DF7B-4C59-8500-91A574875C47}" destId="{F655F7B4-652C-4626-8703-0024EF7A480B}" srcOrd="1" destOrd="0" parTransId="{9AB3B960-0A7C-43C4-AA69-B85BFDBADF48}" sibTransId="{48EFB724-F6D8-475F-82B2-843262EB61EF}"/>
    <dgm:cxn modelId="{2A7A2E7F-F56D-438E-9C8D-47E7A40F301A}" type="presOf" srcId="{95C3FB72-A411-499A-9D7E-B44FA9C58D7C}" destId="{F1971286-1BAB-4490-9D1A-02883B2B1513}" srcOrd="0" destOrd="2" presId="urn:microsoft.com/office/officeart/2005/8/layout/hProcess9"/>
    <dgm:cxn modelId="{1C6A1D87-9D44-4207-98E4-D2661ED45B55}" type="presOf" srcId="{BC8D6234-5CCD-46CF-A105-852393223EA3}" destId="{EA5B87C3-78BF-4BAE-A401-D06A6C3E0A20}" srcOrd="0" destOrd="2" presId="urn:microsoft.com/office/officeart/2005/8/layout/hProcess9"/>
    <dgm:cxn modelId="{4E202D88-D678-4BDF-8B62-D77DD4FFD09D}" srcId="{D5C827B7-DC2F-44B1-95BD-2F08E8659544}" destId="{E632ACD5-2324-41AB-A2E3-0C2B98B042FC}" srcOrd="0" destOrd="0" parTransId="{0BC710A4-0BF8-4571-82DF-B4133A9468ED}" sibTransId="{F6819716-F2FD-42CF-8B99-526605224DEB}"/>
    <dgm:cxn modelId="{4D45A590-A9A2-465F-9469-068469F1A79F}" srcId="{8178586B-F2CE-41AB-A3DF-20D8B233D87D}" destId="{99CD61BA-DB39-4E7E-8976-C1371F8BBA0E}" srcOrd="0" destOrd="0" parTransId="{08F6D7CD-9C23-4A55-9CFE-1901E79C5D30}" sibTransId="{7DA824CD-8E57-4C40-9313-682AFB4A9ECC}"/>
    <dgm:cxn modelId="{13D70D99-F2F8-4372-BB94-B81A0F66BFBC}" srcId="{4105D8C4-0866-4999-84DF-490EE8613C3C}" destId="{95C3FB72-A411-499A-9D7E-B44FA9C58D7C}" srcOrd="1" destOrd="0" parTransId="{894C6E56-2AEB-46E1-8002-520FD5671E90}" sibTransId="{0CFE4D2B-BEEE-4C4C-8F8B-ED6F17A5A083}"/>
    <dgm:cxn modelId="{78A615A0-9541-4F12-B027-9B9274BAE6DB}" type="presOf" srcId="{3AA168B2-5796-48D9-BD64-E274449ABF51}" destId="{8EB05C76-4989-44FA-B141-FD3948A62A69}" srcOrd="0" destOrd="2" presId="urn:microsoft.com/office/officeart/2005/8/layout/hProcess9"/>
    <dgm:cxn modelId="{01DD28C1-FB43-4A72-A52A-D744B6B8F446}" srcId="{E9264D90-C6A3-400D-999F-3D4C9B477669}" destId="{86B32372-195B-4A28-97D5-3F302F0DE014}" srcOrd="0" destOrd="0" parTransId="{2FCA2D28-F7AA-404A-BACC-D78D47209B01}" sibTransId="{37890C7F-1F39-4808-BB9A-BF052AFA31FA}"/>
    <dgm:cxn modelId="{359E65C6-46B7-4F09-B756-DF6209EC261F}" type="presOf" srcId="{68AFD4B7-85D0-48E1-AE06-C2CDAF3D1D79}" destId="{86AC2059-9328-4CA9-9B68-5B91113C7B29}" srcOrd="0" destOrd="1" presId="urn:microsoft.com/office/officeart/2005/8/layout/hProcess9"/>
    <dgm:cxn modelId="{E63CBFD7-DA47-497A-AEAB-1D95951989EE}" srcId="{99CD61BA-DB39-4E7E-8976-C1371F8BBA0E}" destId="{B35F9FCD-BDF9-43D8-88DD-6B56D6A45CD0}" srcOrd="0" destOrd="0" parTransId="{D4954D9D-E92C-4AF3-B405-7BE637124AE9}" sibTransId="{30281D1F-6D7B-4C6C-9E1D-0B0A711FBE5D}"/>
    <dgm:cxn modelId="{AC96ACDE-9D6F-4CFF-81E2-5697B6A732E8}" type="presOf" srcId="{4105D8C4-0866-4999-84DF-490EE8613C3C}" destId="{F1971286-1BAB-4490-9D1A-02883B2B1513}" srcOrd="0" destOrd="0" presId="urn:microsoft.com/office/officeart/2005/8/layout/hProcess9"/>
    <dgm:cxn modelId="{31C383DF-493F-4FA3-9EB5-8CD8D4AFB0E5}" type="presOf" srcId="{BDB6F3ED-E504-4D99-856E-B15C48FCDA3F}" destId="{F1971286-1BAB-4490-9D1A-02883B2B1513}" srcOrd="0" destOrd="1" presId="urn:microsoft.com/office/officeart/2005/8/layout/hProcess9"/>
    <dgm:cxn modelId="{6CBEC6DF-EA51-4847-ACFF-F809E76A4645}" type="presOf" srcId="{B35F9FCD-BDF9-43D8-88DD-6B56D6A45CD0}" destId="{591C7538-94D5-454D-BD46-77299AD15D51}" srcOrd="0" destOrd="1" presId="urn:microsoft.com/office/officeart/2005/8/layout/hProcess9"/>
    <dgm:cxn modelId="{50CE3EE0-AC56-413A-A8AC-678D5B3A9B68}" type="presOf" srcId="{86B32372-195B-4A28-97D5-3F302F0DE014}" destId="{EA5B87C3-78BF-4BAE-A401-D06A6C3E0A20}" srcOrd="0" destOrd="1" presId="urn:microsoft.com/office/officeart/2005/8/layout/hProcess9"/>
    <dgm:cxn modelId="{1FE401EA-7244-402C-9114-77E9D1696B71}" type="presOf" srcId="{8178586B-F2CE-41AB-A3DF-20D8B233D87D}" destId="{0DEDD44B-7298-4AA8-9EF8-62BF2C1B20A9}" srcOrd="0" destOrd="0" presId="urn:microsoft.com/office/officeart/2005/8/layout/hProcess9"/>
    <dgm:cxn modelId="{6380F5F8-00AD-44DE-8ACA-558682887879}" srcId="{D5C827B7-DC2F-44B1-95BD-2F08E8659544}" destId="{3AA168B2-5796-48D9-BD64-E274449ABF51}" srcOrd="1" destOrd="0" parTransId="{A9FBCEB7-C459-453E-8131-E14F341BB920}" sibTransId="{41538E08-2B5B-4D20-B120-E43FE40C427E}"/>
    <dgm:cxn modelId="{9E538AFF-E46E-4C5C-9A04-E9D06A35776B}" srcId="{8178586B-F2CE-41AB-A3DF-20D8B233D87D}" destId="{D5C827B7-DC2F-44B1-95BD-2F08E8659544}" srcOrd="4" destOrd="0" parTransId="{BE84D910-7891-4F5C-B896-D9D71A5B4EB7}" sibTransId="{79220FF9-C600-45C4-B7DD-F172DFABC528}"/>
    <dgm:cxn modelId="{182CB6E3-742A-42D8-B644-CFFABB832485}" type="presParOf" srcId="{0DEDD44B-7298-4AA8-9EF8-62BF2C1B20A9}" destId="{34BFB079-AA3F-4C30-9E83-559C468F7239}" srcOrd="0" destOrd="0" presId="urn:microsoft.com/office/officeart/2005/8/layout/hProcess9"/>
    <dgm:cxn modelId="{7D5911BA-896E-4F96-8DF7-CEB41F875191}" type="presParOf" srcId="{0DEDD44B-7298-4AA8-9EF8-62BF2C1B20A9}" destId="{ED06D1C8-8994-4444-A153-93C047E7EE96}" srcOrd="1" destOrd="0" presId="urn:microsoft.com/office/officeart/2005/8/layout/hProcess9"/>
    <dgm:cxn modelId="{5B98A08C-4556-4289-9727-85A52624579B}" type="presParOf" srcId="{ED06D1C8-8994-4444-A153-93C047E7EE96}" destId="{591C7538-94D5-454D-BD46-77299AD15D51}" srcOrd="0" destOrd="0" presId="urn:microsoft.com/office/officeart/2005/8/layout/hProcess9"/>
    <dgm:cxn modelId="{3B416AA8-C4DB-4BFE-88D5-E4CCEC01A22C}" type="presParOf" srcId="{ED06D1C8-8994-4444-A153-93C047E7EE96}" destId="{85CF71FC-BB96-4E6D-BBA7-3582ED4997B9}" srcOrd="1" destOrd="0" presId="urn:microsoft.com/office/officeart/2005/8/layout/hProcess9"/>
    <dgm:cxn modelId="{9E799990-85DA-402C-90F3-6788F558D492}" type="presParOf" srcId="{ED06D1C8-8994-4444-A153-93C047E7EE96}" destId="{EA5B87C3-78BF-4BAE-A401-D06A6C3E0A20}" srcOrd="2" destOrd="0" presId="urn:microsoft.com/office/officeart/2005/8/layout/hProcess9"/>
    <dgm:cxn modelId="{00091F44-BB30-403C-B16F-9608064E3139}" type="presParOf" srcId="{ED06D1C8-8994-4444-A153-93C047E7EE96}" destId="{7E467411-619E-4E71-9FCB-6B8E33952269}" srcOrd="3" destOrd="0" presId="urn:microsoft.com/office/officeart/2005/8/layout/hProcess9"/>
    <dgm:cxn modelId="{8C3C7FAE-FD4C-40E5-AFFD-7F08E02A1DA4}" type="presParOf" srcId="{ED06D1C8-8994-4444-A153-93C047E7EE96}" destId="{F1971286-1BAB-4490-9D1A-02883B2B1513}" srcOrd="4" destOrd="0" presId="urn:microsoft.com/office/officeart/2005/8/layout/hProcess9"/>
    <dgm:cxn modelId="{556D496E-8FA6-4D81-B674-80BCA44C151B}" type="presParOf" srcId="{ED06D1C8-8994-4444-A153-93C047E7EE96}" destId="{AD0F633F-792C-4808-BCCD-8A9E7E426F18}" srcOrd="5" destOrd="0" presId="urn:microsoft.com/office/officeart/2005/8/layout/hProcess9"/>
    <dgm:cxn modelId="{73CA98A8-3A8F-44B4-92AE-2CF350712F9C}" type="presParOf" srcId="{ED06D1C8-8994-4444-A153-93C047E7EE96}" destId="{86AC2059-9328-4CA9-9B68-5B91113C7B29}" srcOrd="6" destOrd="0" presId="urn:microsoft.com/office/officeart/2005/8/layout/hProcess9"/>
    <dgm:cxn modelId="{B9997EF8-A3E5-403E-9C9B-C9AB137A9AF4}" type="presParOf" srcId="{ED06D1C8-8994-4444-A153-93C047E7EE96}" destId="{827B38C6-2F9E-45E6-8BFF-AA690B5599A8}" srcOrd="7" destOrd="0" presId="urn:microsoft.com/office/officeart/2005/8/layout/hProcess9"/>
    <dgm:cxn modelId="{7D5366BA-B2A2-4A6C-B0EF-1E30B67C4983}" type="presParOf" srcId="{ED06D1C8-8994-4444-A153-93C047E7EE96}" destId="{8EB05C76-4989-44FA-B141-FD3948A62A69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BFB079-AA3F-4C30-9E83-559C468F7239}">
      <dsp:nvSpPr>
        <dsp:cNvPr id="0" name=""/>
        <dsp:cNvSpPr/>
      </dsp:nvSpPr>
      <dsp:spPr>
        <a:xfrm>
          <a:off x="489661" y="0"/>
          <a:ext cx="5549493" cy="450810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1C7538-94D5-454D-BD46-77299AD15D51}">
      <dsp:nvSpPr>
        <dsp:cNvPr id="0" name=""/>
        <dsp:cNvSpPr/>
      </dsp:nvSpPr>
      <dsp:spPr>
        <a:xfrm>
          <a:off x="2869" y="1352431"/>
          <a:ext cx="1254438" cy="180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solidFill>
                <a:schemeClr val="tx2">
                  <a:lumMod val="50000"/>
                </a:schemeClr>
              </a:solidFill>
            </a:rPr>
            <a:t>Perception</a:t>
          </a:r>
          <a:endParaRPr lang="de-DE" sz="14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>
              <a:solidFill>
                <a:schemeClr val="tx2">
                  <a:lumMod val="50000"/>
                </a:schemeClr>
              </a:solidFill>
            </a:rPr>
            <a:t>Pull and preprocess live financial data.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>
              <a:solidFill>
                <a:schemeClr val="tx2">
                  <a:lumMod val="50000"/>
                </a:schemeClr>
              </a:solidFill>
            </a:rPr>
            <a:t>Yahoo Finance  API, Bloomberg API, CCXT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64106" y="1413668"/>
        <a:ext cx="1131964" cy="1680768"/>
      </dsp:txXfrm>
    </dsp:sp>
    <dsp:sp modelId="{EA5B87C3-78BF-4BAE-A401-D06A6C3E0A20}">
      <dsp:nvSpPr>
        <dsp:cNvPr id="0" name=""/>
        <dsp:cNvSpPr/>
      </dsp:nvSpPr>
      <dsp:spPr>
        <a:xfrm>
          <a:off x="1320029" y="1352431"/>
          <a:ext cx="1254438" cy="180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solidFill>
                <a:schemeClr val="tx2">
                  <a:lumMod val="50000"/>
                </a:schemeClr>
              </a:solidFill>
            </a:rPr>
            <a:t>Reasoning</a:t>
          </a:r>
          <a:endParaRPr lang="de-DE" sz="14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>
              <a:solidFill>
                <a:schemeClr val="tx2">
                  <a:lumMod val="50000"/>
                </a:schemeClr>
              </a:solidFill>
            </a:rPr>
            <a:t>Apply models to predict outcomes.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>
              <a:solidFill>
                <a:schemeClr val="tx2">
                  <a:lumMod val="50000"/>
                </a:schemeClr>
              </a:solidFill>
            </a:rPr>
            <a:t>ARIMA, Reservoir Computing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1381266" y="1413668"/>
        <a:ext cx="1131964" cy="1680768"/>
      </dsp:txXfrm>
    </dsp:sp>
    <dsp:sp modelId="{F1971286-1BAB-4490-9D1A-02883B2B1513}">
      <dsp:nvSpPr>
        <dsp:cNvPr id="0" name=""/>
        <dsp:cNvSpPr/>
      </dsp:nvSpPr>
      <dsp:spPr>
        <a:xfrm>
          <a:off x="2637188" y="1352431"/>
          <a:ext cx="1254438" cy="180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solidFill>
                <a:schemeClr val="tx2">
                  <a:lumMod val="50000"/>
                </a:schemeClr>
              </a:solidFill>
            </a:rPr>
            <a:t>Action Selection</a:t>
          </a:r>
          <a:endParaRPr lang="de-DE" sz="14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>
              <a:solidFill>
                <a:schemeClr val="tx2">
                  <a:lumMod val="50000"/>
                </a:schemeClr>
              </a:solidFill>
            </a:rPr>
            <a:t>Choose advisory outputs based on predictions.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 err="1">
              <a:solidFill>
                <a:schemeClr val="tx2">
                  <a:lumMod val="50000"/>
                </a:schemeClr>
              </a:solidFill>
            </a:rPr>
            <a:t>FinRL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2698425" y="1413668"/>
        <a:ext cx="1131964" cy="1680768"/>
      </dsp:txXfrm>
    </dsp:sp>
    <dsp:sp modelId="{86AC2059-9328-4CA9-9B68-5B91113C7B29}">
      <dsp:nvSpPr>
        <dsp:cNvPr id="0" name=""/>
        <dsp:cNvSpPr/>
      </dsp:nvSpPr>
      <dsp:spPr>
        <a:xfrm>
          <a:off x="3954348" y="1352431"/>
          <a:ext cx="1254438" cy="180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solidFill>
                <a:schemeClr val="tx2">
                  <a:lumMod val="50000"/>
                </a:schemeClr>
              </a:solidFill>
            </a:rPr>
            <a:t>Natural Language Reporting</a:t>
          </a:r>
          <a:endParaRPr lang="de-DE" sz="14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>
              <a:solidFill>
                <a:schemeClr val="tx2">
                  <a:lumMod val="50000"/>
                </a:schemeClr>
              </a:solidFill>
            </a:rPr>
            <a:t>Pass planning output to LLM to produce clear advice.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>
              <a:solidFill>
                <a:schemeClr val="tx2">
                  <a:lumMod val="50000"/>
                </a:schemeClr>
              </a:solidFill>
            </a:rPr>
            <a:t>Qwen3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4015585" y="1413668"/>
        <a:ext cx="1131964" cy="1680768"/>
      </dsp:txXfrm>
    </dsp:sp>
    <dsp:sp modelId="{8EB05C76-4989-44FA-B141-FD3948A62A69}">
      <dsp:nvSpPr>
        <dsp:cNvPr id="0" name=""/>
        <dsp:cNvSpPr/>
      </dsp:nvSpPr>
      <dsp:spPr>
        <a:xfrm>
          <a:off x="5271508" y="1352431"/>
          <a:ext cx="1254438" cy="180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solidFill>
                <a:schemeClr val="tx2">
                  <a:lumMod val="50000"/>
                </a:schemeClr>
              </a:solidFill>
            </a:rPr>
            <a:t>Self-Evaluation</a:t>
          </a:r>
          <a:endParaRPr lang="de-DE" sz="14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>
              <a:solidFill>
                <a:schemeClr val="tx2">
                  <a:lumMod val="50000"/>
                </a:schemeClr>
              </a:solidFill>
            </a:rPr>
            <a:t>Log past predictions and compare to real outcomes over time.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 err="1">
              <a:solidFill>
                <a:schemeClr val="tx2">
                  <a:lumMod val="50000"/>
                </a:schemeClr>
              </a:solidFill>
            </a:rPr>
            <a:t>Backtesting</a:t>
          </a:r>
          <a:endParaRPr lang="de-DE" sz="11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5332745" y="1413668"/>
        <a:ext cx="1131964" cy="1680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706DC2AA-3EE1-4710-B576-59ED6D0DAAB7}" type="datetime1">
              <a:rPr lang="de-DE" smtClean="0"/>
              <a:t>16.06.2025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BF9A36D-7FAC-478F-9944-F324014F6FD1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12A654F7-23CE-450C-96B0-AC7F00250D49}" type="datetime1">
              <a:rPr lang="de-DE" smtClean="0"/>
              <a:t>16.06.2025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D4B9A9E5-4F7F-4A7D-9DE1-89923232926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pic>
        <p:nvPicPr>
          <p:cNvPr id="7" name="Grafik 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fik 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de-DE" sz="2000"/>
            </a:lvl1pPr>
            <a:lvl2pPr>
              <a:lnSpc>
                <a:spcPct val="120000"/>
              </a:lnSpc>
              <a:defRPr lang="de-DE" sz="1800"/>
            </a:lvl2pPr>
            <a:lvl3pPr>
              <a:lnSpc>
                <a:spcPct val="120000"/>
              </a:lnSpc>
              <a:defRPr lang="de-DE" sz="1600"/>
            </a:lvl3pPr>
            <a:lvl4pPr>
              <a:lnSpc>
                <a:spcPct val="120000"/>
              </a:lnSpc>
              <a:defRPr lang="de-DE" sz="1400"/>
            </a:lvl4pPr>
            <a:lvl5pPr>
              <a:lnSpc>
                <a:spcPct val="120000"/>
              </a:lnSpc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 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durch Klicken auf ein Symbol einzufügen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de-DE" sz="48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de-DE" sz="2000"/>
            </a:lvl1pPr>
            <a:lvl2pPr marL="457200" indent="0">
              <a:buNone/>
              <a:defRPr lang="de-DE" sz="1800"/>
            </a:lvl2pPr>
            <a:lvl3pPr marL="914400" indent="0">
              <a:buNone/>
              <a:defRPr lang="de-DE" sz="1600"/>
            </a:lvl3pPr>
            <a:lvl4pPr marL="1371600" indent="0">
              <a:buNone/>
              <a:defRPr lang="de-DE" sz="1400"/>
            </a:lvl4pPr>
            <a:lvl5pPr marL="1828800" indent="0">
              <a:buNone/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linke Abbildung 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 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de-DE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 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1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1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1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1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1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rechtes 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el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0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0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0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0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 rtl="0"/>
              <a:t>‹#›</a:t>
            </a:fld>
            <a:endParaRPr lang="de-DE" dirty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de-DE" sz="2000"/>
            </a:lvl1pPr>
          </a:lstStyle>
          <a:p>
            <a:pPr rtl="0"/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Tabell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 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pic>
        <p:nvPicPr>
          <p:cNvPr id="9" name="Grafik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0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0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0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0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3" name="Tabellenplatzhalter 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de-DE" sz="2000"/>
            </a:lvl1pPr>
          </a:lstStyle>
          <a:p>
            <a:pPr rtl="0"/>
            <a:r>
              <a:rPr lang="de-DE"/>
              <a:t>Tabelle durch Klicken auf das Symbol einzufügen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 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de-DE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de-DE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de-DE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de-DE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de-DE" sz="16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de-DE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de-DE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de-DE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de-DE" sz="1400" b="1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Tabellenplatzhalter 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de-DE" sz="2400"/>
            </a:lvl1pPr>
          </a:lstStyle>
          <a:p>
            <a:pPr rtl="0"/>
            <a:r>
              <a:rPr lang="en-US"/>
              <a:t>Click icon to add table</a:t>
            </a:r>
            <a:endParaRPr lang="de-DE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de-DE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2" name="Grafik 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Verkaufspräsentation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8.xml"/><Relationship Id="rId7" Type="http://schemas.openxmlformats.org/officeDocument/2006/relationships/diagramQuickStyle" Target="../diagrams/quickStyle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Layout" Target="../diagrams/layout1.xml"/><Relationship Id="rId11" Type="http://schemas.openxmlformats.org/officeDocument/2006/relationships/image" Target="../media/image27.png"/><Relationship Id="rId5" Type="http://schemas.openxmlformats.org/officeDocument/2006/relationships/diagramData" Target="../diagrams/data1.xml"/><Relationship Id="rId10" Type="http://schemas.openxmlformats.org/officeDocument/2006/relationships/image" Target="../media/image28.png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7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7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0.sv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 rtl="0"/>
            <a:r>
              <a:rPr lang="en-US" dirty="0"/>
              <a:t>Agentic Financial Advisor Bot for Investment Strategies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Kevin Juandi</a:t>
            </a:r>
            <a:endParaRPr lang="de-DE" dirty="0"/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FE3A29AF-794A-28F8-D3F8-83F0831430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66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542"/>
    </mc:Choice>
    <mc:Fallback>
      <p:transition spd="slow" advTm="255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en-SG" dirty="0"/>
              <a:t>System Architecture</a:t>
            </a:r>
            <a:endParaRPr lang="de-DE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4C8E205-F606-8A46-1CC7-41F66A16430B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987552" y="1545336"/>
          <a:ext cx="6528816" cy="4508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2</a:t>
            </a:fld>
            <a:endParaRPr lang="de-DE" dirty="0"/>
          </a:p>
        </p:txBody>
      </p:sp>
      <p:pic>
        <p:nvPicPr>
          <p:cNvPr id="6" name="Picture 4" descr="Control Flow and Interaction Design Diagram">
            <a:extLst>
              <a:ext uri="{FF2B5EF4-FFF2-40B4-BE49-F238E27FC236}">
                <a16:creationId xmlns:a16="http://schemas.microsoft.com/office/drawing/2014/main" id="{5CBAFA18-CF07-E707-477D-973A37D6C3D2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633" y="1110601"/>
            <a:ext cx="3295226" cy="494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02A4C09F-24B8-6704-4876-134A2B1442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92"/>
    </mc:Choice>
    <mc:Fallback>
      <p:transition spd="slow" advTm="284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B72E-74E2-7C91-2421-749BD0A0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RC Forecasting Demo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DA802-1D8B-5C0A-07C2-D454277162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36347-49B3-C993-0DE9-D7BC1C259D2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52DB0-1247-94B2-F529-24B88F063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6223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A0BF-FE36-12F7-E6E2-66ACE4DA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RL Portfolio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6DF5A-5368-6DC7-53DD-FD88265E06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C2E39-3653-CF12-9A2A-72F089DEBB2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FA85C-A652-AF36-130E-968C97108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416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1239-6EB2-A080-71C2-7BC0F35B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Agentic Demo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697E-C78B-D803-4C6D-DA4FEEB7A56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57F22-920C-7E81-2433-85DA424DD8E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253FE-E2E3-0BCF-56C8-8CBCD2AE5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128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B908-0CDC-4F42-D1F1-5FD6BB68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42DE-BDE7-E25D-9DE2-08DD94DEB2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863F2-5EE8-DC7C-C844-1EE29189224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9CBFF-5E4C-1128-D2AA-5E2A02496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6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B25FBB-7C4E-D6B4-5CEA-DFE7E1CCC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66" y="315532"/>
            <a:ext cx="10720467" cy="617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74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273A-E1E5-E369-114D-C1DBE365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Future Improvement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D1C9F-E2CA-2FA9-AA7C-ED13BC7022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unified agentic pipeline</a:t>
            </a:r>
          </a:p>
          <a:p>
            <a:r>
              <a:rPr lang="en-US" dirty="0"/>
              <a:t>Automated retraining</a:t>
            </a:r>
          </a:p>
          <a:p>
            <a:r>
              <a:rPr lang="en-US" dirty="0" err="1"/>
              <a:t>Personalised</a:t>
            </a:r>
            <a:r>
              <a:rPr lang="en-US" dirty="0"/>
              <a:t> advice using user memory</a:t>
            </a:r>
          </a:p>
          <a:p>
            <a:r>
              <a:rPr lang="en-US" dirty="0"/>
              <a:t>And </a:t>
            </a:r>
            <a:r>
              <a:rPr lang="en-US" dirty="0" err="1"/>
              <a:t>Stigmergic</a:t>
            </a:r>
            <a:r>
              <a:rPr lang="en-US" dirty="0"/>
              <a:t> multi-agent RL for scalable portfolio strategies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793DF-DE61-6D4E-1DC0-9DB5F62FB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7</a:t>
            </a:fld>
            <a:endParaRPr lang="de-DE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5BEE094-D2E6-636F-1AAE-9AF01CCF8C46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4602163" y="2017713"/>
          <a:ext cx="6751637" cy="3748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35B7F27-1086-3DE3-D8CA-61F3D77043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39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658"/>
    </mc:Choice>
    <mc:Fallback>
      <p:transition spd="slow" advTm="346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Thank You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67CF8A64-CCA6-6968-08B5-C2EF2AE9FD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80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09"/>
    </mc:Choice>
    <mc:Fallback>
      <p:transition spd="slow" advTm="232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Benutzerdefiniert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10_TF22318419_Win32" id="{C749F05C-A5EF-495F-B259-903DDCF7041F}" vid="{DABB12BF-E318-4EB1-BC0E-40AA0F2FD2E3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045227-5724-4DBF-9712-031B1BFB2C3C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terms/"/>
    <ds:schemaRef ds:uri="230e9df3-be65-4c73-a93b-d1236ebd677e"/>
    <ds:schemaRef ds:uri="16c05727-aa75-4e4a-9b5f-8a80a1165891"/>
    <ds:schemaRef ds:uri="http://schemas.microsoft.com/office/2006/documentManagement/types"/>
    <ds:schemaRef ds:uri="71af3243-3dd4-4a8d-8c0d-dd76da1f02a5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Verkaufspräsentation für Minimalisten</Template>
  <TotalTime>0</TotalTime>
  <Words>118</Words>
  <Application>Microsoft Office PowerPoint</Application>
  <PresentationFormat>Widescreen</PresentationFormat>
  <Paragraphs>36</Paragraphs>
  <Slides>8</Slides>
  <Notes>3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Tenorite</vt:lpstr>
      <vt:lpstr>Benutzerdefiniert</vt:lpstr>
      <vt:lpstr>Agentic Financial Advisor Bot for Investment Strategies  Kevin Juandi</vt:lpstr>
      <vt:lpstr>System Architecture</vt:lpstr>
      <vt:lpstr>RC Forecasting Demo</vt:lpstr>
      <vt:lpstr>RL Portfolio</vt:lpstr>
      <vt:lpstr>Agentic Demo</vt:lpstr>
      <vt:lpstr>PowerPoint Presentation</vt:lpstr>
      <vt:lpstr>Future Improvement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Juandi</dc:creator>
  <cp:lastModifiedBy>Kevin Juandi</cp:lastModifiedBy>
  <cp:revision>2</cp:revision>
  <dcterms:created xsi:type="dcterms:W3CDTF">2025-06-16T12:17:13Z</dcterms:created>
  <dcterms:modified xsi:type="dcterms:W3CDTF">2025-06-16T14:15:24Z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